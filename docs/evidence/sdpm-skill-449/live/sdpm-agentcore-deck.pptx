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74626"/>
  </p:normalViewPr>
  <p:slideViewPr>
    <p:cSldViewPr snapToGrid="0" snapToObjects="1">
      <p:cViewPr varScale="1">
        <p:scale>
          <a:sx n="94" d="100"/>
          <a:sy n="94" d="100"/>
        </p:scale>
        <p:origin x="1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FD1B0-74F3-D141-B210-936319A276C7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2DD4-0740-C747-9E66-F79886FCF7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14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Meiryo"/>
              </a:rPr>
              <a:t>表紙スライドです。</a:t>
            </a:r>
            <a:r>
              <a:rPr>
                <a:solidFill>
                  <a:srgbClr val="FFFFFF"/>
                </a:solidFill>
                <a:latin typeface="Calibri"/>
              </a:rPr>
              <a:t> SDPM </a:t>
            </a:r>
            <a:r>
              <a:rPr>
                <a:solidFill>
                  <a:srgbClr val="FFFFFF"/>
                </a:solidFill>
                <a:latin typeface="Meiryo"/>
              </a:rPr>
              <a:t>の正式名称と簡単な一言説明を示して、セッションの目的を伝えましょう。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SDPM </a:t>
            </a:r>
            <a:r>
              <a:rPr>
                <a:solidFill>
                  <a:srgbClr val="FFFFFF"/>
                </a:solidFill>
                <a:latin typeface="Meiryo"/>
              </a:rPr>
              <a:t>の</a:t>
            </a:r>
            <a:r>
              <a:rPr>
                <a:solidFill>
                  <a:srgbClr val="FFFFFF"/>
                </a:solidFill>
                <a:latin typeface="Calibri"/>
              </a:rPr>
              <a:t> 3 </a:t>
            </a:r>
            <a:r>
              <a:rPr>
                <a:solidFill>
                  <a:srgbClr val="FFFFFF"/>
                </a:solidFill>
                <a:latin typeface="Meiryo"/>
              </a:rPr>
              <a:t>つの柱（計画・実行・改善）をそれぞれ簡潔に説明します。各ポイントに具体例を交えると理解が深まります。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Meiryo"/>
              </a:rPr>
              <a:t>まとめスライドです。</a:t>
            </a:r>
            <a:r>
              <a:rPr>
                <a:solidFill>
                  <a:srgbClr val="FFFFFF"/>
                </a:solidFill>
                <a:latin typeface="Calibri"/>
              </a:rPr>
              <a:t> SDPM </a:t>
            </a:r>
            <a:r>
              <a:rPr>
                <a:solidFill>
                  <a:srgbClr val="FFFFFF"/>
                </a:solidFill>
                <a:latin typeface="Meiryo"/>
              </a:rPr>
              <a:t>スキルを身につけることによるメリットと、具体的な次のステップを提示して締めくくりましょう。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9889435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886200"/>
            <a:ext cx="9760226" cy="7752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84578"/>
            <a:ext cx="10992678" cy="798788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2413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7200">
                <a:solidFill>
                  <a:srgbClr val="FFFFFF"/>
                </a:solidFill>
                <a:latin typeface="Calibri"/>
              </a:rPr>
              <a:t>SDPM </a:t>
            </a:r>
            <a:r>
              <a:rPr sz="7200">
                <a:solidFill>
                  <a:srgbClr val="FFFFFF"/>
                </a:solidFill>
                <a:latin typeface="Meiryo"/>
              </a:rPr>
              <a:t>スキル紹介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32385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3600">
                <a:solidFill>
                  <a:srgbClr val="00AEEF"/>
                </a:solidFill>
                <a:latin typeface="Calibri"/>
              </a:rPr>
              <a:t>Software Development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0" y="38735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AAAAAA"/>
                </a:solidFill>
                <a:latin typeface="Meiryo"/>
              </a:rPr>
              <a:t>プロジェクトを成功に導くための実践的スキルセット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81000"/>
            <a:ext cx="10922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FFFFF"/>
                </a:solidFill>
                <a:latin typeface="Calibri"/>
              </a:rPr>
              <a:t>SDPM </a:t>
            </a:r>
            <a:r>
              <a:rPr sz="4800">
                <a:solidFill>
                  <a:srgbClr val="FFFFFF"/>
                </a:solidFill>
                <a:latin typeface="Meiryo"/>
              </a:rPr>
              <a:t>の主な特徴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651000"/>
            <a:ext cx="2794000" cy="444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3600">
                <a:solidFill>
                  <a:srgbClr val="00AEEF"/>
                </a:solidFill>
                <a:latin typeface="Calibri"/>
              </a:rPr>
              <a:t>📋 </a:t>
            </a:r>
            <a:r>
              <a:rPr sz="3600">
                <a:solidFill>
                  <a:srgbClr val="00AEEF"/>
                </a:solidFill>
                <a:latin typeface="Meiryo"/>
              </a:rPr>
              <a:t>計画力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2159000"/>
            <a:ext cx="2794000" cy="2667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・スコープ定義と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要件整理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</a:t>
            </a:r>
            <a:r>
              <a:rPr sz="2600">
                <a:solidFill>
                  <a:srgbClr val="DDDDDD"/>
                </a:solidFill>
                <a:latin typeface="Calibri"/>
              </a:rPr>
              <a:t> WBS </a:t>
            </a:r>
            <a:r>
              <a:rPr sz="2600">
                <a:solidFill>
                  <a:srgbClr val="DDDDDD"/>
                </a:solidFill>
                <a:latin typeface="Meiryo"/>
              </a:rPr>
              <a:t>作成と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スケジューリング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・リスク識別と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対応計画の立案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9000" y="1651000"/>
            <a:ext cx="2794000" cy="444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3600">
                <a:solidFill>
                  <a:srgbClr val="00AEEF"/>
                </a:solidFill>
                <a:latin typeface="Calibri"/>
              </a:rPr>
              <a:t>⚙️ </a:t>
            </a:r>
            <a:r>
              <a:rPr sz="3600">
                <a:solidFill>
                  <a:srgbClr val="00AEEF"/>
                </a:solidFill>
                <a:latin typeface="Meiryo"/>
              </a:rPr>
              <a:t>実行力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9000" y="2159000"/>
            <a:ext cx="2794000" cy="2667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・チームのタスク管理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と進捗の可視化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・ステークホルダーへの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適切な報告・連絡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・課題の迅速な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解決と意思決定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0" y="1651000"/>
            <a:ext cx="2794000" cy="444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3600">
                <a:solidFill>
                  <a:srgbClr val="00AEEF"/>
                </a:solidFill>
                <a:latin typeface="Calibri"/>
              </a:rPr>
              <a:t>🔄 </a:t>
            </a:r>
            <a:r>
              <a:rPr sz="3600">
                <a:solidFill>
                  <a:srgbClr val="00AEEF"/>
                </a:solidFill>
                <a:latin typeface="Meiryo"/>
              </a:rPr>
              <a:t>改善力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2159000"/>
            <a:ext cx="2794000" cy="2667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・振り返りによる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プロセス改善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</a:t>
            </a:r>
            <a:r>
              <a:rPr sz="2600">
                <a:solidFill>
                  <a:srgbClr val="DDDDDD"/>
                </a:solidFill>
                <a:latin typeface="Calibri"/>
              </a:rPr>
              <a:t> KPI </a:t>
            </a:r>
            <a:r>
              <a:rPr sz="2600">
                <a:solidFill>
                  <a:srgbClr val="DDDDDD"/>
                </a:solidFill>
                <a:latin typeface="Meiryo"/>
              </a:rPr>
              <a:t>測定と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データ活用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・ナレッジの蓄積と</a:t>
            </a:r>
          </a:p>
          <a:p>
            <a:pPr algn="l"/>
            <a:r>
              <a:rPr sz="2600">
                <a:solidFill>
                  <a:srgbClr val="DDDDDD"/>
                </a:solidFill>
                <a:latin typeface="Meiryo"/>
              </a:rPr>
              <a:t>　チームへの展開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81000"/>
            <a:ext cx="10922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161925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3200">
                <a:solidFill>
                  <a:srgbClr val="00AEEF"/>
                </a:solidFill>
                <a:latin typeface="Calibri"/>
              </a:rPr>
              <a:t>SDPM </a:t>
            </a:r>
            <a:r>
              <a:rPr sz="3200">
                <a:solidFill>
                  <a:srgbClr val="00AEEF"/>
                </a:solidFill>
                <a:latin typeface="Meiryo"/>
              </a:rPr>
              <a:t>スキルが組織にもたらす価値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032000"/>
            <a:ext cx="4826000" cy="1079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700">
                <a:solidFill>
                  <a:srgbClr val="DDDDDD"/>
                </a:solidFill>
                <a:latin typeface="Calibri"/>
              </a:rPr>
              <a:t>✅ </a:t>
            </a:r>
            <a:r>
              <a:rPr sz="2700">
                <a:solidFill>
                  <a:srgbClr val="DDDDDD"/>
                </a:solidFill>
                <a:latin typeface="Meiryo"/>
              </a:rPr>
              <a:t>プロジェクト成功率の向上</a:t>
            </a:r>
          </a:p>
          <a:p>
            <a:pPr algn="l"/>
            <a:r>
              <a:rPr sz="2700">
                <a:solidFill>
                  <a:srgbClr val="DDDDDD"/>
                </a:solidFill>
                <a:latin typeface="Calibri"/>
              </a:rPr>
              <a:t>✅ </a:t>
            </a:r>
            <a:r>
              <a:rPr sz="2700">
                <a:solidFill>
                  <a:srgbClr val="DDDDDD"/>
                </a:solidFill>
                <a:latin typeface="Meiryo"/>
              </a:rPr>
              <a:t>チームの生産性と士気の改善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2032000"/>
            <a:ext cx="5143500" cy="1079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700">
                <a:solidFill>
                  <a:srgbClr val="DDDDDD"/>
                </a:solidFill>
                <a:latin typeface="Calibri"/>
              </a:rPr>
              <a:t>✅ </a:t>
            </a:r>
            <a:r>
              <a:rPr sz="2700">
                <a:solidFill>
                  <a:srgbClr val="DDDDDD"/>
                </a:solidFill>
                <a:latin typeface="Meiryo"/>
              </a:rPr>
              <a:t>リスクの早期発見と対処</a:t>
            </a:r>
          </a:p>
          <a:p>
            <a:pPr algn="l"/>
            <a:r>
              <a:rPr sz="2700">
                <a:solidFill>
                  <a:srgbClr val="DDDDDD"/>
                </a:solidFill>
                <a:latin typeface="Calibri"/>
              </a:rPr>
              <a:t>✅ </a:t>
            </a:r>
            <a:r>
              <a:rPr sz="2700">
                <a:solidFill>
                  <a:srgbClr val="DDDDDD"/>
                </a:solidFill>
                <a:latin typeface="Meiryo"/>
              </a:rPr>
              <a:t>組織全体の継続的な成長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619500"/>
            <a:ext cx="10922000" cy="444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3400">
                <a:solidFill>
                  <a:srgbClr val="00AEEF"/>
                </a:solidFill>
                <a:latin typeface="Meiryo"/>
              </a:rPr>
              <a:t>次のステップ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095750"/>
            <a:ext cx="10922000" cy="1270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DDDDD"/>
                </a:solidFill>
                <a:latin typeface="Calibri"/>
              </a:rPr>
              <a:t>① SDPM </a:t>
            </a:r>
            <a:r>
              <a:rPr sz="2800">
                <a:solidFill>
                  <a:srgbClr val="DDDDDD"/>
                </a:solidFill>
                <a:latin typeface="Meiryo"/>
              </a:rPr>
              <a:t>トレーニングプログラムへの参加</a:t>
            </a:r>
          </a:p>
          <a:p>
            <a:pPr algn="l"/>
            <a:r>
              <a:rPr sz="2800">
                <a:solidFill>
                  <a:srgbClr val="DDDDDD"/>
                </a:solidFill>
                <a:latin typeface="Calibri"/>
              </a:rPr>
              <a:t>② </a:t>
            </a:r>
            <a:r>
              <a:rPr sz="2800">
                <a:solidFill>
                  <a:srgbClr val="DDDDDD"/>
                </a:solidFill>
                <a:latin typeface="Meiryo"/>
              </a:rPr>
              <a:t>現在のプロジェクトへの段階的な適用</a:t>
            </a:r>
          </a:p>
          <a:p>
            <a:pPr algn="l"/>
            <a:r>
              <a:rPr sz="2800">
                <a:solidFill>
                  <a:srgbClr val="DDDDDD"/>
                </a:solidFill>
                <a:latin typeface="Calibri"/>
              </a:rPr>
              <a:t>③ </a:t>
            </a:r>
            <a:r>
              <a:rPr sz="2800">
                <a:solidFill>
                  <a:srgbClr val="DDDDDD"/>
                </a:solidFill>
                <a:latin typeface="Meiryo"/>
              </a:rPr>
              <a:t>チーム内でのナレッジ共有と実践サイクルの確立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37300"/>
            <a:ext cx="12192000" cy="4699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ctr"/>
            <a:r>
              <a:rPr sz="2800">
                <a:solidFill>
                  <a:srgbClr val="0A0A2E"/>
                </a:solidFill>
                <a:latin typeface="Calibri"/>
              </a:rPr>
              <a:t>SDPM </a:t>
            </a:r>
            <a:r>
              <a:rPr sz="2800">
                <a:solidFill>
                  <a:srgbClr val="0A0A2E"/>
                </a:solidFill>
                <a:latin typeface="Meiryo"/>
              </a:rPr>
              <a:t>スキルで、あなたのプロジェクトを次のレベルへ。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10</cp:revision>
  <dcterms:created xsi:type="dcterms:W3CDTF">2013-01-27T09:14:16Z</dcterms:created>
  <dcterms:modified xsi:type="dcterms:W3CDTF">2026-04-21T05:52:00Z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2026-04-01T23:58:19Z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beaebefe-5a52-4e34-80b8-0094bfd161a6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